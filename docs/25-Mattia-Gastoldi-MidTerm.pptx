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6.jpg" ContentType="image/jpeg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1"/>
  </p:notesMasterIdLst>
  <p:sldIdLst>
    <p:sldId id="256" r:id="rId5"/>
    <p:sldId id="257" r:id="rId6"/>
    <p:sldId id="258" r:id="rId7"/>
    <p:sldId id="262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DDE3"/>
    <a:srgbClr val="FCF5E3"/>
    <a:srgbClr val="9DACAE"/>
    <a:srgbClr val="F0EADA"/>
    <a:srgbClr val="EAC7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8D0586-3FB8-4687-8390-0EBC2DA4EF80}" v="28" dt="2024-04-09T19:54:24.7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7F330C-5A39-41E9-AC14-71B2B396B829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634074-E52C-4082-A637-A503EEF2DB9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514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634074-E52C-4082-A637-A503EEF2DB9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5842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634074-E52C-4082-A637-A503EEF2DB9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1929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634074-E52C-4082-A637-A503EEF2DB9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2180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6115-94AE-4C41-A05A-BEB4293A102A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01736-25F7-494D-A39D-E16FA6ABCDA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6115-94AE-4C41-A05A-BEB4293A102A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01736-25F7-494D-A39D-E16FA6ABCDA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2671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6115-94AE-4C41-A05A-BEB4293A102A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01736-25F7-494D-A39D-E16FA6ABCDA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4802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6115-94AE-4C41-A05A-BEB4293A102A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01736-25F7-494D-A39D-E16FA6ABCDA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256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6115-94AE-4C41-A05A-BEB4293A102A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01736-25F7-494D-A39D-E16FA6ABCDA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5293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6115-94AE-4C41-A05A-BEB4293A102A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01736-25F7-494D-A39D-E16FA6ABCDA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8840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6115-94AE-4C41-A05A-BEB4293A102A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01736-25F7-494D-A39D-E16FA6ABCDA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1507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6115-94AE-4C41-A05A-BEB4293A102A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01736-25F7-494D-A39D-E16FA6ABCDA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2258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6115-94AE-4C41-A05A-BEB4293A102A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01736-25F7-494D-A39D-E16FA6ABCDA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5499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6115-94AE-4C41-A05A-BEB4293A102A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01736-25F7-494D-A39D-E16FA6ABCDA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7801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6115-94AE-4C41-A05A-BEB4293A102A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01736-25F7-494D-A39D-E16FA6ABCDA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51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216115-94AE-4C41-A05A-BEB4293A102A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501736-25F7-494D-A39D-E16FA6ABCDA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3582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 descr="Immagine che contiene testo, disegno, schizzo, design&#10;&#10;Descrizione generata automaticamente">
            <a:extLst>
              <a:ext uri="{FF2B5EF4-FFF2-40B4-BE49-F238E27FC236}">
                <a16:creationId xmlns:a16="http://schemas.microsoft.com/office/drawing/2014/main" id="{461B837E-9275-6B61-48E3-F3742CA64D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0" t="15597" r="3996" b="3369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Parallelogramma 12">
            <a:extLst>
              <a:ext uri="{FF2B5EF4-FFF2-40B4-BE49-F238E27FC236}">
                <a16:creationId xmlns:a16="http://schemas.microsoft.com/office/drawing/2014/main" id="{9331B662-386D-A617-5D4D-F19A55CC15B0}"/>
              </a:ext>
            </a:extLst>
          </p:cNvPr>
          <p:cNvSpPr/>
          <p:nvPr/>
        </p:nvSpPr>
        <p:spPr>
          <a:xfrm>
            <a:off x="721777" y="2024742"/>
            <a:ext cx="9974036" cy="4833258"/>
          </a:xfrm>
          <a:prstGeom prst="parallelogram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Parallelogramma 13">
            <a:extLst>
              <a:ext uri="{FF2B5EF4-FFF2-40B4-BE49-F238E27FC236}">
                <a16:creationId xmlns:a16="http://schemas.microsoft.com/office/drawing/2014/main" id="{A552AA51-6615-9B98-D43C-B0DF99CD8B72}"/>
              </a:ext>
            </a:extLst>
          </p:cNvPr>
          <p:cNvSpPr/>
          <p:nvPr/>
        </p:nvSpPr>
        <p:spPr>
          <a:xfrm>
            <a:off x="1613806" y="0"/>
            <a:ext cx="9974036" cy="4833257"/>
          </a:xfrm>
          <a:prstGeom prst="parallelogram">
            <a:avLst/>
          </a:prstGeom>
          <a:solidFill>
            <a:srgbClr val="002060">
              <a:alpha val="8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6990585-D67A-2D34-9F21-C7F2B4540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4065" y="2895301"/>
            <a:ext cx="7563870" cy="1386352"/>
          </a:xfrm>
        </p:spPr>
        <p:txBody>
          <a:bodyPr>
            <a:normAutofit fontScale="90000"/>
          </a:bodyPr>
          <a:lstStyle/>
          <a:p>
            <a:r>
              <a:rPr lang="it-IT" sz="4400" b="1" dirty="0">
                <a:solidFill>
                  <a:schemeClr val="bg1"/>
                </a:solidFill>
              </a:rPr>
              <a:t>ANALYSIS OF THE ORDER DYNAMICS IN THE ELECTRICITY SPOT MARKET</a:t>
            </a:r>
            <a:endParaRPr lang="en-GB" sz="4400" b="1" dirty="0">
              <a:solidFill>
                <a:schemeClr val="bg1"/>
              </a:solidFill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09AD059-7ED7-08EF-A5BD-FE1230B6DBF4}"/>
              </a:ext>
            </a:extLst>
          </p:cNvPr>
          <p:cNvSpPr txBox="1"/>
          <p:nvPr/>
        </p:nvSpPr>
        <p:spPr>
          <a:xfrm>
            <a:off x="1376444" y="5351164"/>
            <a:ext cx="41882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GB" sz="1600" b="1" i="0" dirty="0">
                <a:solidFill>
                  <a:schemeClr val="bg1"/>
                </a:solidFill>
                <a:effectLst/>
                <a:latin typeface="Seaford" panose="020F0502020204030204" pitchFamily="2" charset="0"/>
              </a:rPr>
              <a:t>MATTIA GASTOLDI</a:t>
            </a:r>
          </a:p>
          <a:p>
            <a:pPr fontAlgn="base"/>
            <a:r>
              <a:rPr lang="en-GB" sz="1600" b="1" i="0" dirty="0">
                <a:solidFill>
                  <a:schemeClr val="bg1"/>
                </a:solidFill>
                <a:effectLst/>
                <a:latin typeface="Seaford" panose="020F0502020204030204" pitchFamily="2" charset="0"/>
              </a:rPr>
              <a:t>ROBERTO GASTOLDI</a:t>
            </a:r>
          </a:p>
          <a:p>
            <a:pPr fontAlgn="base"/>
            <a:r>
              <a:rPr lang="en-GB" sz="1600" b="1" dirty="0">
                <a:solidFill>
                  <a:schemeClr val="bg1"/>
                </a:solidFill>
                <a:latin typeface="Seaford" panose="020F0502020204030204" pitchFamily="2" charset="0"/>
              </a:rPr>
              <a:t>GABRIELE GIMMILLARO</a:t>
            </a:r>
          </a:p>
          <a:p>
            <a:pPr fontAlgn="base"/>
            <a:r>
              <a:rPr lang="en-GB" sz="1600" b="1" i="0" dirty="0">
                <a:solidFill>
                  <a:schemeClr val="bg1"/>
                </a:solidFill>
                <a:effectLst/>
                <a:latin typeface="Seaford" panose="020F0502020204030204" pitchFamily="2" charset="0"/>
              </a:rPr>
              <a:t>FARHAN FEBRI RAHMAT</a:t>
            </a:r>
          </a:p>
          <a:p>
            <a:pPr fontAlgn="base"/>
            <a:r>
              <a:rPr lang="en-GB" sz="1600" b="1" dirty="0">
                <a:solidFill>
                  <a:schemeClr val="bg1"/>
                </a:solidFill>
                <a:latin typeface="Seaford" panose="020F0502020204030204" pitchFamily="2" charset="0"/>
              </a:rPr>
              <a:t>ELIAS KRISTIANSEN REKKEDAL</a:t>
            </a:r>
            <a:endParaRPr lang="en-GB" sz="1600" i="0" dirty="0">
              <a:solidFill>
                <a:schemeClr val="bg1"/>
              </a:solidFill>
              <a:effectLst/>
              <a:latin typeface="Seaford" panose="020F0502020204030204" pitchFamily="2" charset="0"/>
            </a:endParaRPr>
          </a:p>
        </p:txBody>
      </p:sp>
      <p:pic>
        <p:nvPicPr>
          <p:cNvPr id="1026" name="Picture 2" descr="Chi siamo - Fondazione Politecnico">
            <a:extLst>
              <a:ext uri="{FF2B5EF4-FFF2-40B4-BE49-F238E27FC236}">
                <a16:creationId xmlns:a16="http://schemas.microsoft.com/office/drawing/2014/main" id="{7C3F3C3F-9B89-98C1-971D-BE5FAA3B6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9038" y="228738"/>
            <a:ext cx="2831497" cy="720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005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099A8B57-A7DB-D940-5815-964B2FC5FB0E}"/>
              </a:ext>
            </a:extLst>
          </p:cNvPr>
          <p:cNvSpPr/>
          <p:nvPr/>
        </p:nvSpPr>
        <p:spPr>
          <a:xfrm>
            <a:off x="1" y="1"/>
            <a:ext cx="12192000" cy="169068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72E948-9772-2958-387B-800701ABA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397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b="1" dirty="0"/>
              <a:t>Dataset:</a:t>
            </a:r>
            <a:r>
              <a:rPr lang="it-IT" sz="2400" dirty="0"/>
              <a:t> </a:t>
            </a:r>
            <a:r>
              <a:rPr lang="it-IT" sz="2400" i="1" dirty="0" err="1"/>
              <a:t>Offer</a:t>
            </a:r>
            <a:r>
              <a:rPr lang="it-IT" sz="2400" i="1" dirty="0"/>
              <a:t> – Demand Dataset </a:t>
            </a:r>
            <a:r>
              <a:rPr lang="it-IT" sz="2400" dirty="0" err="1"/>
              <a:t>proposed</a:t>
            </a:r>
            <a:r>
              <a:rPr lang="it-IT" sz="2400" dirty="0"/>
              <a:t> by Professor </a:t>
            </a:r>
            <a:r>
              <a:rPr lang="it-IT" sz="2400" dirty="0" err="1"/>
              <a:t>Koechlin</a:t>
            </a:r>
            <a:r>
              <a:rPr lang="it-IT" sz="2400" dirty="0"/>
              <a:t> </a:t>
            </a:r>
          </a:p>
          <a:p>
            <a:pPr marL="0" indent="0">
              <a:buNone/>
            </a:pPr>
            <a:r>
              <a:rPr lang="it-IT" sz="2400" b="1" dirty="0"/>
              <a:t>Data </a:t>
            </a:r>
            <a:r>
              <a:rPr lang="it-IT" sz="2400" b="1" dirty="0" err="1"/>
              <a:t>Description</a:t>
            </a:r>
            <a:r>
              <a:rPr lang="it-IT" sz="2400" b="1" dirty="0"/>
              <a:t>:</a:t>
            </a:r>
          </a:p>
        </p:txBody>
      </p:sp>
      <p:pic>
        <p:nvPicPr>
          <p:cNvPr id="8" name="Immagine 7" descr="Immagine che contiene testo, schermata, Carattere&#10;&#10;Descrizione generata automaticamente">
            <a:extLst>
              <a:ext uri="{FF2B5EF4-FFF2-40B4-BE49-F238E27FC236}">
                <a16:creationId xmlns:a16="http://schemas.microsoft.com/office/drawing/2014/main" id="{F64AEA11-C094-C74B-E368-A25EB541E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150" y="2932319"/>
            <a:ext cx="9029700" cy="17956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itolo 1">
            <a:extLst>
              <a:ext uri="{FF2B5EF4-FFF2-40B4-BE49-F238E27FC236}">
                <a16:creationId xmlns:a16="http://schemas.microsoft.com/office/drawing/2014/main" id="{2F251F47-6B2D-BA0F-0A3F-8A8D6C742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429" y="365125"/>
            <a:ext cx="11310257" cy="1325563"/>
          </a:xfrm>
        </p:spPr>
        <p:txBody>
          <a:bodyPr/>
          <a:lstStyle/>
          <a:p>
            <a:pPr algn="ctr"/>
            <a:r>
              <a:rPr lang="it-IT" b="1" dirty="0">
                <a:solidFill>
                  <a:schemeClr val="bg1"/>
                </a:solidFill>
                <a:latin typeface="+mn-lt"/>
              </a:rPr>
              <a:t>ABOUT THE DATA</a:t>
            </a:r>
            <a:endParaRPr lang="en-GB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" name="Immagine 9" descr="Immagine che contiene testo, schermata, Carattere, linea&#10;&#10;Descrizione generata automaticamente">
            <a:extLst>
              <a:ext uri="{FF2B5EF4-FFF2-40B4-BE49-F238E27FC236}">
                <a16:creationId xmlns:a16="http://schemas.microsoft.com/office/drawing/2014/main" id="{A877AED3-6B73-77DE-37F3-708BF2BB5C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150" y="5036677"/>
            <a:ext cx="9029700" cy="145619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6648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magine 24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503AFA4A-66D3-2922-1C72-A543A62338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771" y="1726913"/>
            <a:ext cx="5312229" cy="41018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01DFC997-249E-695E-43CD-9750DE44CC22}"/>
              </a:ext>
            </a:extLst>
          </p:cNvPr>
          <p:cNvSpPr txBox="1"/>
          <p:nvPr/>
        </p:nvSpPr>
        <p:spPr>
          <a:xfrm>
            <a:off x="783771" y="465029"/>
            <a:ext cx="3418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CURVES</a:t>
            </a:r>
            <a:endParaRPr lang="en-GB" b="1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961EA4F-917E-584B-D2A6-37BB23E7FE80}"/>
              </a:ext>
            </a:extLst>
          </p:cNvPr>
          <p:cNvSpPr txBox="1"/>
          <p:nvPr/>
        </p:nvSpPr>
        <p:spPr>
          <a:xfrm>
            <a:off x="783771" y="834361"/>
            <a:ext cx="2220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Date: </a:t>
            </a:r>
            <a:r>
              <a:rPr lang="it-IT" sz="1400" b="1" dirty="0"/>
              <a:t>23/10/2023</a:t>
            </a:r>
          </a:p>
          <a:p>
            <a:r>
              <a:rPr lang="it-IT" sz="1400" dirty="0"/>
              <a:t>Hour: </a:t>
            </a:r>
            <a:r>
              <a:rPr lang="it-IT" sz="1400" b="1" dirty="0"/>
              <a:t>10:00 AM</a:t>
            </a:r>
            <a:endParaRPr lang="en-GB" sz="1400" b="1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278924C-AB89-64FB-6A4D-522B03E1D246}"/>
              </a:ext>
            </a:extLst>
          </p:cNvPr>
          <p:cNvSpPr txBox="1"/>
          <p:nvPr/>
        </p:nvSpPr>
        <p:spPr>
          <a:xfrm>
            <a:off x="6553199" y="465029"/>
            <a:ext cx="3418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ZONES</a:t>
            </a:r>
            <a:endParaRPr lang="en-GB" b="1" dirty="0"/>
          </a:p>
        </p:txBody>
      </p:sp>
      <p:pic>
        <p:nvPicPr>
          <p:cNvPr id="6" name="Immagine 5" descr="Immagine che contiene testo, mappa&#10;&#10;Descrizione generata automaticamente">
            <a:extLst>
              <a:ext uri="{FF2B5EF4-FFF2-40B4-BE49-F238E27FC236}">
                <a16:creationId xmlns:a16="http://schemas.microsoft.com/office/drawing/2014/main" id="{E5B16012-1790-5A5C-E241-B21E7402DC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8862" y="1357581"/>
            <a:ext cx="3772817" cy="473278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68405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testo, diagramma, linea, schermata&#10;&#10;Descrizione generata automaticamente">
            <a:extLst>
              <a:ext uri="{FF2B5EF4-FFF2-40B4-BE49-F238E27FC236}">
                <a16:creationId xmlns:a16="http://schemas.microsoft.com/office/drawing/2014/main" id="{F1065CB3-E9C7-DD99-38D7-BBC67B44E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9798" y="762561"/>
            <a:ext cx="6877896" cy="4130282"/>
          </a:xfrm>
          <a:prstGeom prst="rect">
            <a:avLst/>
          </a:prstGeom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315E6DDF-A16F-D80E-A02D-E1BF2F3C6D6B}"/>
              </a:ext>
            </a:extLst>
          </p:cNvPr>
          <p:cNvSpPr/>
          <p:nvPr/>
        </p:nvSpPr>
        <p:spPr>
          <a:xfrm>
            <a:off x="0" y="0"/>
            <a:ext cx="3788229" cy="68580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ACC6764-6506-8D3B-8DD2-9B14AA4FC2A5}"/>
              </a:ext>
            </a:extLst>
          </p:cNvPr>
          <p:cNvSpPr txBox="1"/>
          <p:nvPr/>
        </p:nvSpPr>
        <p:spPr>
          <a:xfrm>
            <a:off x="304800" y="724747"/>
            <a:ext cx="1523986" cy="367124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GUIDE LINE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026D471-E8F5-E43C-F374-964171B524BF}"/>
              </a:ext>
            </a:extLst>
          </p:cNvPr>
          <p:cNvSpPr txBox="1"/>
          <p:nvPr/>
        </p:nvSpPr>
        <p:spPr>
          <a:xfrm>
            <a:off x="644306" y="1862106"/>
            <a:ext cx="2084602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EXPLORATORY DATA ANALYSIS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B703919-CCFF-FD39-E78D-0513A560DC5C}"/>
              </a:ext>
            </a:extLst>
          </p:cNvPr>
          <p:cNvSpPr txBox="1"/>
          <p:nvPr/>
        </p:nvSpPr>
        <p:spPr>
          <a:xfrm>
            <a:off x="644305" y="2827702"/>
            <a:ext cx="2084599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FUNCTIONAL DATA ANALYSIS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2ABD858-2007-C869-57A5-B9075EE9F926}"/>
              </a:ext>
            </a:extLst>
          </p:cNvPr>
          <p:cNvSpPr txBox="1"/>
          <p:nvPr/>
        </p:nvSpPr>
        <p:spPr>
          <a:xfrm>
            <a:off x="644292" y="3804593"/>
            <a:ext cx="2084609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CORRELATION WITH EXTERNAL VARIABLES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BB3A217-2C93-F312-8129-DC79ABC9CE2F}"/>
              </a:ext>
            </a:extLst>
          </p:cNvPr>
          <p:cNvSpPr txBox="1"/>
          <p:nvPr/>
        </p:nvSpPr>
        <p:spPr>
          <a:xfrm>
            <a:off x="644292" y="5049205"/>
            <a:ext cx="2084609" cy="36712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PREDICTION</a:t>
            </a:r>
            <a:endParaRPr lang="en-GB" dirty="0">
              <a:solidFill>
                <a:schemeClr val="bg1"/>
              </a:solidFill>
            </a:endParaRPr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37C0CDBC-A067-BC93-19FE-D5419DBC111B}"/>
              </a:ext>
            </a:extLst>
          </p:cNvPr>
          <p:cNvCxnSpPr/>
          <p:nvPr/>
        </p:nvCxnSpPr>
        <p:spPr>
          <a:xfrm>
            <a:off x="304800" y="-2103"/>
            <a:ext cx="0" cy="6927900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E294556A-7258-E709-0BE8-00162236432A}"/>
              </a:ext>
            </a:extLst>
          </p:cNvPr>
          <p:cNvCxnSpPr>
            <a:cxnSpLocks/>
          </p:cNvCxnSpPr>
          <p:nvPr/>
        </p:nvCxnSpPr>
        <p:spPr>
          <a:xfrm>
            <a:off x="304800" y="2188123"/>
            <a:ext cx="311603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78EB0270-73D6-01F8-A7A2-C8B41F69F750}"/>
              </a:ext>
            </a:extLst>
          </p:cNvPr>
          <p:cNvCxnSpPr>
            <a:cxnSpLocks/>
          </p:cNvCxnSpPr>
          <p:nvPr/>
        </p:nvCxnSpPr>
        <p:spPr>
          <a:xfrm>
            <a:off x="304799" y="3172733"/>
            <a:ext cx="311603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DFC27899-6F32-1B20-3C6C-5CC39EED58C7}"/>
              </a:ext>
            </a:extLst>
          </p:cNvPr>
          <p:cNvCxnSpPr>
            <a:cxnSpLocks/>
          </p:cNvCxnSpPr>
          <p:nvPr/>
        </p:nvCxnSpPr>
        <p:spPr>
          <a:xfrm>
            <a:off x="303431" y="4266258"/>
            <a:ext cx="311603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D8BEEDB8-32C7-E364-DC7B-AA210929AC60}"/>
              </a:ext>
            </a:extLst>
          </p:cNvPr>
          <p:cNvCxnSpPr>
            <a:cxnSpLocks/>
          </p:cNvCxnSpPr>
          <p:nvPr/>
        </p:nvCxnSpPr>
        <p:spPr>
          <a:xfrm>
            <a:off x="303431" y="5232768"/>
            <a:ext cx="311603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C52B3314-DE13-521B-F1B5-878120043A25}"/>
              </a:ext>
            </a:extLst>
          </p:cNvPr>
          <p:cNvSpPr txBox="1"/>
          <p:nvPr/>
        </p:nvSpPr>
        <p:spPr>
          <a:xfrm>
            <a:off x="6096000" y="5416332"/>
            <a:ext cx="4005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Intersection</a:t>
            </a:r>
            <a:r>
              <a:rPr lang="it-IT" dirty="0"/>
              <a:t> </a:t>
            </a:r>
            <a:r>
              <a:rPr lang="en-GB" b="0" i="0" dirty="0">
                <a:solidFill>
                  <a:srgbClr val="040C28"/>
                </a:solidFill>
                <a:effectLst/>
                <a:latin typeface="Google Sans"/>
              </a:rPr>
              <a:t>~ </a:t>
            </a:r>
            <a:r>
              <a:rPr lang="en-GB" b="1" i="0" dirty="0" err="1">
                <a:solidFill>
                  <a:srgbClr val="040C28"/>
                </a:solidFill>
                <a:effectLst/>
                <a:latin typeface="Google Sans"/>
              </a:rPr>
              <a:t>PrezzoZonale</a:t>
            </a:r>
            <a:r>
              <a:rPr lang="it-IT" b="0" i="0" dirty="0">
                <a:solidFill>
                  <a:srgbClr val="040C28"/>
                </a:solidFill>
                <a:effectLst/>
                <a:latin typeface="Google Sans"/>
              </a:rPr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1476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0A7853-4F09-F693-9E9A-63A71BE92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0" y="365125"/>
            <a:ext cx="7848600" cy="1325563"/>
          </a:xfrm>
        </p:spPr>
        <p:txBody>
          <a:bodyPr/>
          <a:lstStyle/>
          <a:p>
            <a:r>
              <a:rPr lang="it-IT" b="1" dirty="0">
                <a:latin typeface="+mn-lt"/>
              </a:rPr>
              <a:t>WORK IN PROGRESS</a:t>
            </a:r>
            <a:endParaRPr lang="en-GB" b="1" dirty="0">
              <a:latin typeface="+mn-lt"/>
            </a:endParaRPr>
          </a:p>
        </p:txBody>
      </p:sp>
      <p:pic>
        <p:nvPicPr>
          <p:cNvPr id="9" name="Segnaposto contenuto 8" descr="Immagine che contiene testo, diagramma, Carattere, linea&#10;&#10;Descrizione generata automaticamente">
            <a:extLst>
              <a:ext uri="{FF2B5EF4-FFF2-40B4-BE49-F238E27FC236}">
                <a16:creationId xmlns:a16="http://schemas.microsoft.com/office/drawing/2014/main" id="{75D0A8B6-CB3E-0485-BB4C-239D13F35A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890" y="1432566"/>
            <a:ext cx="3795024" cy="2665342"/>
          </a:xfr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3EC24D07-E495-0663-B788-5B58AAC24046}"/>
              </a:ext>
            </a:extLst>
          </p:cNvPr>
          <p:cNvSpPr/>
          <p:nvPr/>
        </p:nvSpPr>
        <p:spPr>
          <a:xfrm>
            <a:off x="1" y="1"/>
            <a:ext cx="2786744" cy="1690687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59BF6AA5-E5B1-B111-7389-30AB624ABFE4}"/>
              </a:ext>
            </a:extLst>
          </p:cNvPr>
          <p:cNvSpPr/>
          <p:nvPr/>
        </p:nvSpPr>
        <p:spPr>
          <a:xfrm>
            <a:off x="0" y="2830287"/>
            <a:ext cx="2786744" cy="4038602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3FF7E0A-98F0-57EC-AEA2-7F9DA3A7DED1}"/>
              </a:ext>
            </a:extLst>
          </p:cNvPr>
          <p:cNvSpPr txBox="1"/>
          <p:nvPr/>
        </p:nvSpPr>
        <p:spPr>
          <a:xfrm>
            <a:off x="468086" y="1937322"/>
            <a:ext cx="1850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EXPLORATORY DATA ANALYSIS</a:t>
            </a:r>
            <a:endParaRPr lang="en-GB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3B5A376-B811-B6BF-346C-08883A7D2644}"/>
              </a:ext>
            </a:extLst>
          </p:cNvPr>
          <p:cNvSpPr txBox="1"/>
          <p:nvPr/>
        </p:nvSpPr>
        <p:spPr>
          <a:xfrm>
            <a:off x="468086" y="3723252"/>
            <a:ext cx="18505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FUNTIONAL DATA ANALYSIS</a:t>
            </a:r>
          </a:p>
          <a:p>
            <a:pPr algn="ctr"/>
            <a:endParaRPr lang="it-IT" b="1" dirty="0">
              <a:solidFill>
                <a:schemeClr val="bg1"/>
              </a:solidFill>
            </a:endParaRPr>
          </a:p>
          <a:p>
            <a:pPr algn="ctr"/>
            <a:r>
              <a:rPr lang="it-IT" b="1" dirty="0">
                <a:solidFill>
                  <a:schemeClr val="bg1"/>
                </a:solidFill>
              </a:rPr>
              <a:t>CORRELATION</a:t>
            </a:r>
          </a:p>
          <a:p>
            <a:pPr algn="ctr"/>
            <a:endParaRPr lang="it-IT" b="1" dirty="0">
              <a:solidFill>
                <a:schemeClr val="bg1"/>
              </a:solidFill>
            </a:endParaRPr>
          </a:p>
          <a:p>
            <a:pPr algn="ctr"/>
            <a:r>
              <a:rPr lang="it-IT" b="1" dirty="0">
                <a:solidFill>
                  <a:schemeClr val="bg1"/>
                </a:solidFill>
              </a:rPr>
              <a:t>PREDICTION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18BDDAE-2A4D-B0CD-C45C-A6D5D139C505}"/>
              </a:ext>
            </a:extLst>
          </p:cNvPr>
          <p:cNvSpPr txBox="1"/>
          <p:nvPr/>
        </p:nvSpPr>
        <p:spPr>
          <a:xfrm>
            <a:off x="3505200" y="1371600"/>
            <a:ext cx="777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GRAPHICAL EXPLORATION OF THE DATA: INTERPRETATION</a:t>
            </a:r>
            <a:endParaRPr lang="en-GB" dirty="0"/>
          </a:p>
        </p:txBody>
      </p:sp>
      <p:pic>
        <p:nvPicPr>
          <p:cNvPr id="8" name="Immagine 7" descr="Immagine che contiene testo, schermata, diagramma, linea&#10;&#10;Descrizione generata automaticamente">
            <a:extLst>
              <a:ext uri="{FF2B5EF4-FFF2-40B4-BE49-F238E27FC236}">
                <a16:creationId xmlns:a16="http://schemas.microsoft.com/office/drawing/2014/main" id="{869B69BC-82F0-37A0-D40F-60ED9FCDEE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421" y="3981302"/>
            <a:ext cx="4095961" cy="2876698"/>
          </a:xfrm>
          <a:prstGeom prst="rect">
            <a:avLst/>
          </a:prstGeom>
        </p:spPr>
      </p:pic>
      <p:pic>
        <p:nvPicPr>
          <p:cNvPr id="11" name="Immagine 10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2CF56B62-AF98-4CF4-A970-13C89D84EE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904" y="2354744"/>
            <a:ext cx="4248368" cy="348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5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5576DB22-68EA-1CD6-62C6-E9AB04FCA532}"/>
              </a:ext>
            </a:extLst>
          </p:cNvPr>
          <p:cNvSpPr/>
          <p:nvPr/>
        </p:nvSpPr>
        <p:spPr>
          <a:xfrm>
            <a:off x="1" y="1"/>
            <a:ext cx="2786744" cy="325482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C945EF52-1E84-76DF-710F-3C7F9F675528}"/>
              </a:ext>
            </a:extLst>
          </p:cNvPr>
          <p:cNvSpPr/>
          <p:nvPr/>
        </p:nvSpPr>
        <p:spPr>
          <a:xfrm>
            <a:off x="0" y="5946001"/>
            <a:ext cx="2786744" cy="92288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75A7862-8573-3473-9C3C-036E56D814BB}"/>
              </a:ext>
            </a:extLst>
          </p:cNvPr>
          <p:cNvSpPr txBox="1"/>
          <p:nvPr/>
        </p:nvSpPr>
        <p:spPr>
          <a:xfrm>
            <a:off x="468086" y="1937322"/>
            <a:ext cx="1850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EXPLORATORY DATA ANALYSIS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799B565-11B5-8F0E-B1F2-034D1FA1CA9E}"/>
              </a:ext>
            </a:extLst>
          </p:cNvPr>
          <p:cNvSpPr txBox="1"/>
          <p:nvPr/>
        </p:nvSpPr>
        <p:spPr>
          <a:xfrm>
            <a:off x="468086" y="3723252"/>
            <a:ext cx="18505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FUNTIONAL DATA ANALYSIS</a:t>
            </a:r>
          </a:p>
          <a:p>
            <a:pPr algn="ctr"/>
            <a:endParaRPr lang="it-IT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algn="ctr"/>
            <a:r>
              <a:rPr lang="it-IT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CORRELATION</a:t>
            </a:r>
          </a:p>
          <a:p>
            <a:pPr algn="ctr"/>
            <a:endParaRPr lang="it-IT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algn="ctr"/>
            <a:r>
              <a:rPr lang="it-IT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PREDICTION</a:t>
            </a:r>
            <a:endParaRPr lang="en-GB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E3895249-CBFF-CEFD-49F9-0C082A3A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0" y="365125"/>
            <a:ext cx="7848600" cy="1325563"/>
          </a:xfrm>
        </p:spPr>
        <p:txBody>
          <a:bodyPr/>
          <a:lstStyle/>
          <a:p>
            <a:r>
              <a:rPr lang="it-IT" b="1" dirty="0">
                <a:latin typeface="+mn-lt"/>
              </a:rPr>
              <a:t>NEXT CHALLENGES</a:t>
            </a:r>
            <a:endParaRPr lang="en-GB" b="1" dirty="0">
              <a:latin typeface="+mn-lt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AC3FD5E-DDA3-3EB2-7CA8-3ED65AE55681}"/>
              </a:ext>
            </a:extLst>
          </p:cNvPr>
          <p:cNvSpPr txBox="1"/>
          <p:nvPr/>
        </p:nvSpPr>
        <p:spPr>
          <a:xfrm>
            <a:off x="4855029" y="2331499"/>
            <a:ext cx="5323113" cy="923330"/>
          </a:xfrm>
          <a:prstGeom prst="rect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SMOOTHING</a:t>
            </a:r>
          </a:p>
          <a:p>
            <a:pPr algn="ctr"/>
            <a:r>
              <a:rPr lang="it-IT" dirty="0"/>
              <a:t>FUNCTIONAL PRINCIPAL COMPONENT ANALYSIS</a:t>
            </a:r>
          </a:p>
          <a:p>
            <a:pPr algn="ctr"/>
            <a:r>
              <a:rPr lang="it-IT" dirty="0"/>
              <a:t>K-MEANS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B28CF51-2659-41C9-0326-9BB6151F5858}"/>
              </a:ext>
            </a:extLst>
          </p:cNvPr>
          <p:cNvSpPr txBox="1"/>
          <p:nvPr/>
        </p:nvSpPr>
        <p:spPr>
          <a:xfrm>
            <a:off x="4855029" y="4930893"/>
            <a:ext cx="5323113" cy="379272"/>
          </a:xfrm>
          <a:prstGeom prst="rect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FUNCTIONAL (AUTO)REGRESSION MODELS</a:t>
            </a:r>
            <a:endParaRPr lang="en-GB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3B755E0D-91F0-C00F-F7F7-D140C1801438}"/>
              </a:ext>
            </a:extLst>
          </p:cNvPr>
          <p:cNvSpPr txBox="1"/>
          <p:nvPr/>
        </p:nvSpPr>
        <p:spPr>
          <a:xfrm>
            <a:off x="4855029" y="3769695"/>
            <a:ext cx="5323113" cy="646331"/>
          </a:xfrm>
          <a:prstGeom prst="rect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800" b="0" i="0" u="none" strike="noStrike" baseline="0" dirty="0">
                <a:solidFill>
                  <a:srgbClr val="000000"/>
                </a:solidFill>
                <a:latin typeface="AAAAAG+Calibri"/>
              </a:rPr>
              <a:t>GAS PRICE</a:t>
            </a:r>
          </a:p>
          <a:p>
            <a:pPr algn="ctr"/>
            <a:r>
              <a:rPr lang="en-GB" dirty="0">
                <a:solidFill>
                  <a:srgbClr val="000000"/>
                </a:solidFill>
                <a:latin typeface="AAAAAG+Calibri"/>
              </a:rPr>
              <a:t>LOAD AND RENEWABLE GENERATION FORCAST</a:t>
            </a:r>
            <a:endParaRPr lang="en-GB" sz="1800" b="0" i="0" u="none" strike="noStrike" baseline="0" dirty="0">
              <a:solidFill>
                <a:srgbClr val="000000"/>
              </a:solidFill>
              <a:latin typeface="AAAAAG+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186234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i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23E239C0D4BDC4792C2849EFE22E365" ma:contentTypeVersion="8" ma:contentTypeDescription="Creare un nuovo documento." ma:contentTypeScope="" ma:versionID="f54ec8df134a6143cc9ecfe5f2ebcbaa">
  <xsd:schema xmlns:xsd="http://www.w3.org/2001/XMLSchema" xmlns:xs="http://www.w3.org/2001/XMLSchema" xmlns:p="http://schemas.microsoft.com/office/2006/metadata/properties" xmlns:ns3="87985bfb-464f-46d5-8c40-af720d7bb1fe" xmlns:ns4="cf18222a-429f-49da-bd31-d5901b2e2dc2" targetNamespace="http://schemas.microsoft.com/office/2006/metadata/properties" ma:root="true" ma:fieldsID="a47f21a5a6b28d52bc00a277d01ed38b" ns3:_="" ns4:_="">
    <xsd:import namespace="87985bfb-464f-46d5-8c40-af720d7bb1fe"/>
    <xsd:import namespace="cf18222a-429f-49da-bd31-d5901b2e2dc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985bfb-464f-46d5-8c40-af720d7bb1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18222a-429f-49da-bd31-d5901b2e2dc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7985bfb-464f-46d5-8c40-af720d7bb1fe" xsi:nil="true"/>
  </documentManagement>
</p:properties>
</file>

<file path=customXml/itemProps1.xml><?xml version="1.0" encoding="utf-8"?>
<ds:datastoreItem xmlns:ds="http://schemas.openxmlformats.org/officeDocument/2006/customXml" ds:itemID="{02EDACCB-4D0F-4E0C-B02C-B6ED99BCB5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985bfb-464f-46d5-8c40-af720d7bb1fe"/>
    <ds:schemaRef ds:uri="cf18222a-429f-49da-bd31-d5901b2e2d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A6B46A9-1134-4938-879B-2E12BDAA8D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76E8E5C-7D33-47B5-BE2A-4C3C095DE0E1}">
  <ds:schemaRefs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cf18222a-429f-49da-bd31-d5901b2e2dc2"/>
    <ds:schemaRef ds:uri="http://purl.org/dc/dcmitype/"/>
    <ds:schemaRef ds:uri="http://purl.org/dc/terms/"/>
    <ds:schemaRef ds:uri="87985bfb-464f-46d5-8c40-af720d7bb1fe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778</TotalTime>
  <Words>113</Words>
  <Application>Microsoft Office PowerPoint</Application>
  <PresentationFormat>Widescreen</PresentationFormat>
  <Paragraphs>43</Paragraphs>
  <Slides>6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3" baseType="lpstr">
      <vt:lpstr>AAAAAG+Calibri</vt:lpstr>
      <vt:lpstr>Aptos</vt:lpstr>
      <vt:lpstr>Aptos Display</vt:lpstr>
      <vt:lpstr>Arial</vt:lpstr>
      <vt:lpstr>Google Sans</vt:lpstr>
      <vt:lpstr>Seaford</vt:lpstr>
      <vt:lpstr>Tema di Office</vt:lpstr>
      <vt:lpstr>ANALYSIS OF THE ORDER DYNAMICS IN THE ELECTRICITY SPOT MARKET</vt:lpstr>
      <vt:lpstr>ABOUT THE DATA</vt:lpstr>
      <vt:lpstr>Presentazione standard di PowerPoint</vt:lpstr>
      <vt:lpstr>Presentazione standard di PowerPoint</vt:lpstr>
      <vt:lpstr>WORK IN PROGRESS</vt:lpstr>
      <vt:lpstr>NEXT 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ORDER DYNAMICS IN THE ELECTRICITY SPOT MARKET</dc:title>
  <dc:creator>Mattia Gastoldi</dc:creator>
  <cp:lastModifiedBy>Mattia Gastoldi</cp:lastModifiedBy>
  <cp:revision>13</cp:revision>
  <dcterms:created xsi:type="dcterms:W3CDTF">2024-04-09T16:47:33Z</dcterms:created>
  <dcterms:modified xsi:type="dcterms:W3CDTF">2024-11-13T20:59:54Z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0x010100F23E239C0D4BDC4792C2849EFE22E365</vt:lpwstr>
  </property>
</Properties>
</file>